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>
        <a:latin typeface="Aptos"/>
        <a:ea typeface="微软雅黑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0"/>
    <p:restoredTop sz="0"/>
  </p:normalViewPr>
  <p:outlineViewPr>
    <p:cViewPr>
      <p:scale>
        <a:sx n="1" d="1"/>
        <a:sy n="1" d="1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47820" y="188595"/>
            <a:ext cx="4104640" cy="3683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spAutoFit/>
          </a:bodyPr>
          <a:lstStyle/>
          <a:p>
            <a:pPr algn="l"/>
            <a:r>
              <a:rPr lang="en-US" sz="1800" b="1">
                <a:solidFill>
                  <a:srgbClr val="0F172A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EEG</a:t>
            </a:r>
            <a:r>
              <a:rPr lang="en-US" sz="1800" b="0">
                <a:solidFill>
                  <a:srgbClr val="0F172A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 与 </a:t>
            </a:r>
            <a:r>
              <a:rPr lang="en-US" sz="1800" b="1">
                <a:solidFill>
                  <a:srgbClr val="0F172A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Audio Token</a:t>
            </a:r>
            <a:r>
              <a:rPr lang="en-US" sz="1800" b="0">
                <a:solidFill>
                  <a:srgbClr val="0F172A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 </a:t>
            </a:r>
            <a:r>
              <a:rPr lang="zh-CN" altLang="en-US" sz="1800" b="0">
                <a:solidFill>
                  <a:srgbClr val="0F172A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对齐思路草图</a:t>
            </a:r>
            <a:endParaRPr lang="zh-CN" altLang="en-US" sz="1800" b="0">
              <a:solidFill>
                <a:srgbClr val="0F172A"/>
              </a:solidFill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7" name="EEG source"/>
          <p:cNvSpPr/>
          <p:nvPr/>
        </p:nvSpPr>
        <p:spPr>
          <a:xfrm>
            <a:off x="2651125" y="927100"/>
            <a:ext cx="1189990" cy="296545"/>
          </a:xfrm>
          <a:prstGeom prst="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EEG signal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EEG preprocess"/>
          <p:cNvSpPr/>
          <p:nvPr/>
        </p:nvSpPr>
        <p:spPr>
          <a:xfrm>
            <a:off x="1877060" y="1503825"/>
            <a:ext cx="271462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Preprocessing /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Epoching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Filter,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Window,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Synchronize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11" name="EEG encoder"/>
          <p:cNvSpPr/>
          <p:nvPr/>
        </p:nvSpPr>
        <p:spPr>
          <a:xfrm>
            <a:off x="1877695" y="2151525"/>
            <a:ext cx="271462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Sensor-Aware Encoder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C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onvert EEG into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L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atent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R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epresentation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13" name="EEG token space"/>
          <p:cNvSpPr/>
          <p:nvPr/>
        </p:nvSpPr>
        <p:spPr>
          <a:xfrm>
            <a:off x="1878330" y="2846070"/>
            <a:ext cx="2713990" cy="33718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Discrete EEG Token Space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14" name="Audio source"/>
          <p:cNvSpPr/>
          <p:nvPr/>
        </p:nvSpPr>
        <p:spPr>
          <a:xfrm>
            <a:off x="8843645" y="957898"/>
            <a:ext cx="2065655" cy="252730"/>
          </a:xfrm>
          <a:prstGeom prst="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udio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W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aveform /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V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oice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B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ank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16" name="Audio tokenizers"/>
          <p:cNvSpPr/>
          <p:nvPr/>
        </p:nvSpPr>
        <p:spPr>
          <a:xfrm>
            <a:off x="8493125" y="1503826"/>
            <a:ext cx="2591435" cy="45881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F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rozen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udio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T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okenizers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SSL,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P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rosody,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S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peaker,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C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odec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18" name="Audio bundle"/>
          <p:cNvSpPr/>
          <p:nvPr/>
        </p:nvSpPr>
        <p:spPr>
          <a:xfrm>
            <a:off x="8493125" y="2151526"/>
            <a:ext cx="2599690" cy="45881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AudioTokenBundle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S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hared time axis for audio tokens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20" name="Audio token space"/>
          <p:cNvSpPr/>
          <p:nvPr/>
        </p:nvSpPr>
        <p:spPr>
          <a:xfrm>
            <a:off x="8498205" y="2850515"/>
            <a:ext cx="2613025" cy="29654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S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tructured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udio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T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oken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S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pace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21" name="left token 0"/>
          <p:cNvSpPr/>
          <p:nvPr/>
        </p:nvSpPr>
        <p:spPr>
          <a:xfrm>
            <a:off x="2011680" y="3447560"/>
            <a:ext cx="258000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uditory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B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ase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onset, envelope, shared auditory response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22" name="mid align 0"/>
          <p:cNvSpPr/>
          <p:nvPr/>
        </p:nvSpPr>
        <p:spPr>
          <a:xfrm>
            <a:off x="5181600" y="3536297"/>
            <a:ext cx="2721610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time and broad auditory alignment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23" name="right token 0"/>
          <p:cNvSpPr/>
          <p:nvPr/>
        </p:nvSpPr>
        <p:spPr>
          <a:xfrm>
            <a:off x="8472805" y="3448830"/>
            <a:ext cx="245173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Auditory Base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envelope / onset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26" name="left token 1"/>
          <p:cNvSpPr/>
          <p:nvPr/>
        </p:nvSpPr>
        <p:spPr>
          <a:xfrm>
            <a:off x="2011680" y="4009535"/>
            <a:ext cx="258889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S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peech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C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ontent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phoneme-like, syllable-like, word-like cues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27" name="mid align 1"/>
          <p:cNvSpPr/>
          <p:nvPr/>
        </p:nvSpPr>
        <p:spPr>
          <a:xfrm>
            <a:off x="5171440" y="4093827"/>
            <a:ext cx="2736215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content prediction / contrastive alignment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28" name="right token 1"/>
          <p:cNvSpPr/>
          <p:nvPr/>
        </p:nvSpPr>
        <p:spPr>
          <a:xfrm>
            <a:off x="8477885" y="4033665"/>
            <a:ext cx="2466340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Speech Content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phoneme, syllable, HuBERT-like unit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31" name="left token 2"/>
          <p:cNvSpPr/>
          <p:nvPr/>
        </p:nvSpPr>
        <p:spPr>
          <a:xfrm>
            <a:off x="2011680" y="4539760"/>
            <a:ext cx="2588895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P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rosody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pitch, energy, rhythm-related neural pattern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32" name="mid align 2"/>
          <p:cNvSpPr/>
          <p:nvPr/>
        </p:nvSpPr>
        <p:spPr>
          <a:xfrm>
            <a:off x="5174615" y="4624052"/>
            <a:ext cx="2749550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contour regression / temporal correlation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33" name="right token 2"/>
          <p:cNvSpPr/>
          <p:nvPr/>
        </p:nvSpPr>
        <p:spPr>
          <a:xfrm>
            <a:off x="8498205" y="4567065"/>
            <a:ext cx="2466340" cy="4588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Prosody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F0, energy, rhythm, voicing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36" name="left token 3"/>
          <p:cNvSpPr/>
          <p:nvPr/>
        </p:nvSpPr>
        <p:spPr>
          <a:xfrm>
            <a:off x="2011680" y="5070303"/>
            <a:ext cx="2589530" cy="45881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V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oice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I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dentity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timbre, style-related neural pattern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37" name="mid align 3"/>
          <p:cNvSpPr/>
          <p:nvPr/>
        </p:nvSpPr>
        <p:spPr>
          <a:xfrm>
            <a:off x="5175250" y="5154912"/>
            <a:ext cx="2743200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voice alignment / candidate retrieval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38" name="right token 3"/>
          <p:cNvSpPr/>
          <p:nvPr/>
        </p:nvSpPr>
        <p:spPr>
          <a:xfrm>
            <a:off x="8493125" y="5083321"/>
            <a:ext cx="2471420" cy="45881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Voice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Identity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speaker, timbre, style embedding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41" name="left token 4"/>
          <p:cNvSpPr/>
          <p:nvPr/>
        </p:nvSpPr>
        <p:spPr>
          <a:xfrm>
            <a:off x="2009775" y="5689582"/>
            <a:ext cx="2591435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R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esidual /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N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oise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42" name="mid align 4"/>
          <p:cNvSpPr/>
          <p:nvPr/>
        </p:nvSpPr>
        <p:spPr>
          <a:xfrm>
            <a:off x="5174615" y="5685137"/>
            <a:ext cx="2749550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reconstruction and leakage diagnostics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43" name="right token 4"/>
          <p:cNvSpPr/>
          <p:nvPr/>
        </p:nvSpPr>
        <p:spPr>
          <a:xfrm>
            <a:off x="8493125" y="5690852"/>
            <a:ext cx="2471420" cy="280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R="0" lvl="0" algn="ctr" rtl="0" eaLnBrk="1" fontAlgn="auto" latinLnBrk="0" hangingPunct="1"/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Residual / Noise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</p:txBody>
      </p:sp>
      <p:sp>
        <p:nvSpPr>
          <p:cNvPr id="49" name="Output strip"/>
          <p:cNvSpPr/>
          <p:nvPr/>
        </p:nvSpPr>
        <p:spPr>
          <a:xfrm>
            <a:off x="4708525" y="6179820"/>
            <a:ext cx="3769360" cy="414020"/>
          </a:xfrm>
          <a:prstGeom prst="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sp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Output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A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n aligned token interface for content, prosody, and voice identity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7260" y="556895"/>
            <a:ext cx="20643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 Bold" panose="02020503050405090304" charset="0"/>
                <a:cs typeface="Times New Roman Bold" panose="02020503050405090304" charset="0"/>
              </a:rPr>
              <a:t>EEG Tokenization</a:t>
            </a:r>
            <a:endParaRPr lang="en-US" altLang="zh-CN" sz="16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8843645" y="621030"/>
            <a:ext cx="20643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 Bold" panose="02020503050405090304" charset="0"/>
                <a:cs typeface="Times New Roman Bold" panose="02020503050405090304" charset="0"/>
              </a:rPr>
              <a:t>Audio Tokenization</a:t>
            </a:r>
            <a:endParaRPr lang="en-US" altLang="zh-CN" sz="16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55" name="直接箭头连接符 54"/>
          <p:cNvCxnSpPr>
            <a:endCxn id="9" idx="0"/>
          </p:cNvCxnSpPr>
          <p:nvPr/>
        </p:nvCxnSpPr>
        <p:spPr>
          <a:xfrm flipH="1">
            <a:off x="3234690" y="1224280"/>
            <a:ext cx="635" cy="2794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9" idx="2"/>
            <a:endCxn id="11" idx="0"/>
          </p:cNvCxnSpPr>
          <p:nvPr/>
        </p:nvCxnSpPr>
        <p:spPr>
          <a:xfrm>
            <a:off x="3234690" y="1962785"/>
            <a:ext cx="635" cy="188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endCxn id="13" idx="0"/>
          </p:cNvCxnSpPr>
          <p:nvPr/>
        </p:nvCxnSpPr>
        <p:spPr>
          <a:xfrm>
            <a:off x="3235325" y="2610485"/>
            <a:ext cx="0" cy="235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/>
          <p:nvPr/>
        </p:nvCxnSpPr>
        <p:spPr>
          <a:xfrm rot="10800000" flipH="1" flipV="1">
            <a:off x="1874520" y="3014345"/>
            <a:ext cx="133350" cy="662305"/>
          </a:xfrm>
          <a:prstGeom prst="bentConnector3">
            <a:avLst>
              <a:gd name="adj1" fmla="val -17857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 rot="5400000" flipV="1">
            <a:off x="1539875" y="3770630"/>
            <a:ext cx="563245" cy="37274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/>
          <p:nvPr>
            <p:custDataLst>
              <p:tags r:id="rId2"/>
            </p:custDataLst>
          </p:nvPr>
        </p:nvCxnSpPr>
        <p:spPr>
          <a:xfrm rot="5400000" flipV="1">
            <a:off x="1555750" y="4317365"/>
            <a:ext cx="530860" cy="37274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endCxn id="36" idx="1"/>
          </p:cNvCxnSpPr>
          <p:nvPr>
            <p:custDataLst>
              <p:tags r:id="rId3"/>
            </p:custDataLst>
          </p:nvPr>
        </p:nvCxnSpPr>
        <p:spPr>
          <a:xfrm rot="5400000" flipV="1">
            <a:off x="1558290" y="4846955"/>
            <a:ext cx="530225" cy="3765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/>
          <p:nvPr>
            <p:custDataLst>
              <p:tags r:id="rId4"/>
            </p:custDataLst>
          </p:nvPr>
        </p:nvCxnSpPr>
        <p:spPr>
          <a:xfrm rot="5400000" flipV="1">
            <a:off x="1543685" y="5343525"/>
            <a:ext cx="563245" cy="37274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5"/>
            </p:custDataLst>
          </p:nvPr>
        </p:nvSpPr>
        <p:spPr>
          <a:xfrm>
            <a:off x="5499735" y="2651125"/>
            <a:ext cx="20643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0" lang="en-US" sz="160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Alignment</a:t>
            </a:r>
            <a:endParaRPr lang="en-US" altLang="zh-CN" sz="16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69" name="直接箭头连接符 68"/>
          <p:cNvCxnSpPr>
            <a:endCxn id="20" idx="1"/>
          </p:cNvCxnSpPr>
          <p:nvPr/>
        </p:nvCxnSpPr>
        <p:spPr>
          <a:xfrm flipV="1">
            <a:off x="4594860" y="2999105"/>
            <a:ext cx="3903345" cy="381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22" idx="1"/>
            <a:endCxn id="21" idx="3"/>
          </p:cNvCxnSpPr>
          <p:nvPr/>
        </p:nvCxnSpPr>
        <p:spPr>
          <a:xfrm flipH="1">
            <a:off x="4591685" y="3676650"/>
            <a:ext cx="58991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6"/>
            </p:custDataLst>
          </p:nvPr>
        </p:nvCxnSpPr>
        <p:spPr>
          <a:xfrm flipH="1">
            <a:off x="4595495" y="4235450"/>
            <a:ext cx="575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endCxn id="36" idx="3"/>
          </p:cNvCxnSpPr>
          <p:nvPr>
            <p:custDataLst>
              <p:tags r:id="rId7"/>
            </p:custDataLst>
          </p:nvPr>
        </p:nvCxnSpPr>
        <p:spPr>
          <a:xfrm flipH="1">
            <a:off x="4601210" y="5299710"/>
            <a:ext cx="5702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31" idx="3"/>
          </p:cNvCxnSpPr>
          <p:nvPr>
            <p:custDataLst>
              <p:tags r:id="rId8"/>
            </p:custDataLst>
          </p:nvPr>
        </p:nvCxnSpPr>
        <p:spPr>
          <a:xfrm flipH="1" flipV="1">
            <a:off x="4600575" y="4769485"/>
            <a:ext cx="57404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9"/>
            </p:custDataLst>
          </p:nvPr>
        </p:nvCxnSpPr>
        <p:spPr>
          <a:xfrm flipH="1">
            <a:off x="4592320" y="5819775"/>
            <a:ext cx="57912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23" idx="1"/>
          </p:cNvCxnSpPr>
          <p:nvPr>
            <p:custDataLst>
              <p:tags r:id="rId10"/>
            </p:custDataLst>
          </p:nvPr>
        </p:nvCxnSpPr>
        <p:spPr>
          <a:xfrm>
            <a:off x="7903210" y="3676015"/>
            <a:ext cx="56959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11"/>
            </p:custDataLst>
          </p:nvPr>
        </p:nvCxnSpPr>
        <p:spPr>
          <a:xfrm>
            <a:off x="7903210" y="4232910"/>
            <a:ext cx="56959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12"/>
            </p:custDataLst>
          </p:nvPr>
        </p:nvCxnSpPr>
        <p:spPr>
          <a:xfrm>
            <a:off x="7928610" y="4770120"/>
            <a:ext cx="56959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>
            <p:custDataLst>
              <p:tags r:id="rId13"/>
            </p:custDataLst>
          </p:nvPr>
        </p:nvCxnSpPr>
        <p:spPr>
          <a:xfrm>
            <a:off x="7928610" y="5297170"/>
            <a:ext cx="56959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>
            <p:custDataLst>
              <p:tags r:id="rId14"/>
            </p:custDataLst>
          </p:nvPr>
        </p:nvCxnSpPr>
        <p:spPr>
          <a:xfrm>
            <a:off x="7928610" y="5820410"/>
            <a:ext cx="56959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肘形连接符 80"/>
          <p:cNvCxnSpPr>
            <a:stCxn id="20" idx="3"/>
            <a:endCxn id="23" idx="3"/>
          </p:cNvCxnSpPr>
          <p:nvPr>
            <p:custDataLst>
              <p:tags r:id="rId15"/>
            </p:custDataLst>
          </p:nvPr>
        </p:nvCxnSpPr>
        <p:spPr>
          <a:xfrm flipH="1">
            <a:off x="10924540" y="2999105"/>
            <a:ext cx="186690" cy="679450"/>
          </a:xfrm>
          <a:prstGeom prst="bentConnector3">
            <a:avLst>
              <a:gd name="adj1" fmla="val -12755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>
            <p:custDataLst>
              <p:tags r:id="rId16"/>
            </p:custDataLst>
          </p:nvPr>
        </p:nvCxnSpPr>
        <p:spPr>
          <a:xfrm flipH="1">
            <a:off x="9876155" y="1224280"/>
            <a:ext cx="635" cy="2794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>
            <p:custDataLst>
              <p:tags r:id="rId17"/>
            </p:custDataLst>
          </p:nvPr>
        </p:nvCxnSpPr>
        <p:spPr>
          <a:xfrm>
            <a:off x="9875520" y="1962785"/>
            <a:ext cx="635" cy="188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>
            <p:custDataLst>
              <p:tags r:id="rId18"/>
            </p:custDataLst>
          </p:nvPr>
        </p:nvCxnSpPr>
        <p:spPr>
          <a:xfrm>
            <a:off x="9876790" y="2610485"/>
            <a:ext cx="0" cy="235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endCxn id="28" idx="3"/>
          </p:cNvCxnSpPr>
          <p:nvPr>
            <p:custDataLst>
              <p:tags r:id="rId19"/>
            </p:custDataLst>
          </p:nvPr>
        </p:nvCxnSpPr>
        <p:spPr>
          <a:xfrm rot="5400000">
            <a:off x="10855960" y="3766820"/>
            <a:ext cx="584835" cy="40767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endCxn id="33" idx="3"/>
          </p:cNvCxnSpPr>
          <p:nvPr>
            <p:custDataLst>
              <p:tags r:id="rId20"/>
            </p:custDataLst>
          </p:nvPr>
        </p:nvCxnSpPr>
        <p:spPr>
          <a:xfrm rot="5400000">
            <a:off x="10891520" y="4335780"/>
            <a:ext cx="533400" cy="38798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肘形连接符 87"/>
          <p:cNvCxnSpPr>
            <a:endCxn id="38" idx="3"/>
          </p:cNvCxnSpPr>
          <p:nvPr>
            <p:custDataLst>
              <p:tags r:id="rId21"/>
            </p:custDataLst>
          </p:nvPr>
        </p:nvCxnSpPr>
        <p:spPr>
          <a:xfrm rot="5400000">
            <a:off x="10900410" y="4860925"/>
            <a:ext cx="516255" cy="38798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肘形连接符 88"/>
          <p:cNvCxnSpPr/>
          <p:nvPr>
            <p:custDataLst>
              <p:tags r:id="rId22"/>
            </p:custDataLst>
          </p:nvPr>
        </p:nvCxnSpPr>
        <p:spPr>
          <a:xfrm rot="5400000">
            <a:off x="10900410" y="5379720"/>
            <a:ext cx="516255" cy="38798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Title"/>
          <p:cNvSpPr txBox="1"/>
          <p:nvPr>
            <p:custDataLst>
              <p:tags r:id="rId23"/>
            </p:custDataLst>
          </p:nvPr>
        </p:nvSpPr>
        <p:spPr>
          <a:xfrm>
            <a:off x="11208385" y="6524943"/>
            <a:ext cx="758190" cy="27559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spAutoFit/>
          </a:bodyPr>
          <a:p>
            <a:pPr algn="l"/>
            <a:r>
              <a:rPr lang="en-US" altLang="en-US" sz="1200" b="0">
                <a:solidFill>
                  <a:srgbClr val="0F172A"/>
                </a:solidFill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5-22-2026</a:t>
            </a:r>
            <a:endParaRPr lang="en-US" altLang="en-US" sz="1200" b="0">
              <a:solidFill>
                <a:srgbClr val="0F172A"/>
              </a:solidFill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sp>
        <p:nvSpPr>
          <p:cNvPr id="93" name="Device context note"/>
          <p:cNvSpPr/>
          <p:nvPr/>
        </p:nvSpPr>
        <p:spPr>
          <a:xfrm>
            <a:off x="191135" y="2087245"/>
            <a:ext cx="1456690" cy="58801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4748B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Device </a:t>
            </a:r>
            <a:r>
              <a:rPr kumimoji="0" lang="en-US" sz="1050" b="1" i="0" u="none" strike="noStrike" kern="0" cap="none" spc="0" normalizeH="0" baseline="0" noProof="1">
                <a:solidFill>
                  <a:srgbClr val="0F172A"/>
                </a:solidFill>
                <a:latin typeface="Times New Roman Bold" panose="02020503050405090304" charset="0"/>
                <a:ea typeface="微软雅黑"/>
                <a:cs typeface="Times New Roman Bold" panose="02020503050405090304" charset="0"/>
                <a:sym typeface="+mn-ea"/>
              </a:rPr>
              <a:t>Context</a:t>
            </a:r>
            <a:endParaRPr kumimoji="0" lang="en-US" sz="1050" b="1" i="0" u="none" strike="noStrike" kern="0" cap="none" spc="0" normalizeH="0" baseline="0" noProof="1">
              <a:solidFill>
                <a:srgbClr val="0F172A"/>
              </a:solidFill>
              <a:latin typeface="Times New Roman Bold" panose="02020503050405090304" charset="0"/>
              <a:ea typeface="微软雅黑"/>
              <a:cs typeface="Times New Roman Bold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D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evice /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M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ontage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  <a:p>
            <a:pPr marL="0" marR="0" lvl="0" algn="ctr" rtl="0" eaLnBrk="1" fontAlgn="auto" latinLnBrk="0" hangingPunct="1">
              <a:buClrTx/>
              <a:buSzTx/>
              <a:buFontTx/>
              <a:buNone/>
            </a:pP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C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onditions 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E</a:t>
            </a:r>
            <a:r>
              <a:rPr kumimoji="0" lang="en-US" sz="1050" b="0" i="0" u="none" strike="noStrike" kern="0" cap="none" spc="0" normalizeH="0" baseline="0" noProof="1">
                <a:solidFill>
                  <a:srgbClr val="0F172A"/>
                </a:solidFill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ncoder</a:t>
            </a:r>
            <a:endParaRPr kumimoji="0" lang="en-US" sz="1050" b="0" i="0" u="none" strike="noStrike" kern="0" cap="none" spc="0" normalizeH="0" baseline="0" noProof="1">
              <a:solidFill>
                <a:srgbClr val="0F172A"/>
              </a:solidFill>
              <a:latin typeface="Times New Roman" panose="02020503050405090304" charset="0"/>
              <a:ea typeface="微软雅黑"/>
              <a:cs typeface="Times New Roman" panose="02020503050405090304" charset="0"/>
              <a:sym typeface="+mn-ea"/>
            </a:endParaRPr>
          </a:p>
        </p:txBody>
      </p:sp>
      <p:cxnSp>
        <p:nvCxnSpPr>
          <p:cNvPr id="3" name="直接连接符 2"/>
          <p:cNvCxnSpPr>
            <a:endCxn id="11" idx="1"/>
          </p:cNvCxnSpPr>
          <p:nvPr/>
        </p:nvCxnSpPr>
        <p:spPr>
          <a:xfrm>
            <a:off x="1647825" y="2381250"/>
            <a:ext cx="2298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EEG Voice Token White">
  <a:themeElements>
    <a:clrScheme name="Office">
      <a:dk1>
        <a:srgbClr val="000000"/>
      </a:dk1>
      <a:lt1>
        <a:srgbClr val="FFFFFF"/>
      </a:lt1>
      <a:dk2>
        <a:srgbClr val="0F172A"/>
      </a:dk2>
      <a:lt2>
        <a:srgbClr val="FFFFFF"/>
      </a:lt2>
      <a:accent1>
        <a:srgbClr val="64748B"/>
      </a:accent1>
      <a:accent2>
        <a:srgbClr val="64748B"/>
      </a:accent2>
      <a:accent3>
        <a:srgbClr val="64748B"/>
      </a:accent3>
      <a:accent4>
        <a:srgbClr val="64748B"/>
      </a:accent4>
      <a:accent5>
        <a:srgbClr val="64748B"/>
      </a:accent5>
      <a:accent6>
        <a:srgbClr val="64748B"/>
      </a:accent6>
      <a:hlink>
        <a:srgbClr val="334155"/>
      </a:hlink>
      <a:folHlink>
        <a:srgbClr val="334155"/>
      </a:folHlink>
    </a:clrScheme>
    <a:fontScheme name="Aptos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WPS 文字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Aptos</vt:lpstr>
      <vt:lpstr>Thonburi</vt:lpstr>
      <vt:lpstr>微软雅黑</vt:lpstr>
      <vt:lpstr>汉仪旗黑</vt:lpstr>
      <vt:lpstr>Times New Roman Bold</vt:lpstr>
      <vt:lpstr>宋体</vt:lpstr>
      <vt:lpstr>汉仪书宋二KW</vt:lpstr>
      <vt:lpstr>Times New Roman Regular</vt:lpstr>
      <vt:lpstr>Times New Roman</vt:lpstr>
      <vt:lpstr>微软雅黑</vt:lpstr>
      <vt:lpstr>微软雅黑</vt:lpstr>
      <vt:lpstr>Arial Unicode MS</vt:lpstr>
      <vt:lpstr>Calibri</vt:lpstr>
      <vt:lpstr>Helvetica Neue</vt:lpstr>
      <vt:lpstr>EEG Voice Token White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and Voice Token Modeling</dc:title>
  <dc:creator>Codex</dc:creator>
  <cp:lastModifiedBy>Sam Xie</cp:lastModifiedBy>
  <cp:revision>8</cp:revision>
  <dcterms:created xsi:type="dcterms:W3CDTF">2026-05-23T05:39:28Z</dcterms:created>
  <dcterms:modified xsi:type="dcterms:W3CDTF">2026-05-23T05:39:28Z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E2DC19D1BDB97A6D612F116AB43A6FA8_42</vt:lpwstr>
  </property>
  <property fmtid="{D5CDD505-2E9C-101B-9397-08002B2CF9AE}" pid="3" name="KSOProductBuildVer">
    <vt:lpwstr>2052-6.7.1.8828</vt:lpwstr>
  </property>
</Properties>
</file>